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703"/>
  </p:normalViewPr>
  <p:slideViewPr>
    <p:cSldViewPr snapToGrid="0">
      <p:cViewPr varScale="1">
        <p:scale>
          <a:sx n="126" d="100"/>
          <a:sy n="126" d="100"/>
        </p:scale>
        <p:origin x="232" y="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DE76C-28EF-4E38-9433-C9C92BCE06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941AB7-E50C-21A9-0FE0-1A071AB0D3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4C110F-FEDA-4FB5-494B-5EC28AFE13B4}"/>
              </a:ext>
            </a:extLst>
          </p:cNvPr>
          <p:cNvSpPr>
            <a:spLocks noGrp="1"/>
          </p:cNvSpPr>
          <p:nvPr>
            <p:ph type="dt" sz="half" idx="10"/>
          </p:nvPr>
        </p:nvSpPr>
        <p:spPr/>
        <p:txBody>
          <a:bodyPr/>
          <a:lstStyle/>
          <a:p>
            <a:fld id="{D0886E16-4304-7443-86DC-5E37742E3119}" type="datetimeFigureOut">
              <a:rPr lang="en-US" smtClean="0"/>
              <a:t>12/5/25</a:t>
            </a:fld>
            <a:endParaRPr lang="en-US"/>
          </a:p>
        </p:txBody>
      </p:sp>
      <p:sp>
        <p:nvSpPr>
          <p:cNvPr id="5" name="Footer Placeholder 4">
            <a:extLst>
              <a:ext uri="{FF2B5EF4-FFF2-40B4-BE49-F238E27FC236}">
                <a16:creationId xmlns:a16="http://schemas.microsoft.com/office/drawing/2014/main" id="{41F3C89E-68A3-4D17-24F5-ECE3928973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37A0E5-38D7-9ED9-A9CB-67A03F97F602}"/>
              </a:ext>
            </a:extLst>
          </p:cNvPr>
          <p:cNvSpPr>
            <a:spLocks noGrp="1"/>
          </p:cNvSpPr>
          <p:nvPr>
            <p:ph type="sldNum" sz="quarter" idx="12"/>
          </p:nvPr>
        </p:nvSpPr>
        <p:spPr/>
        <p:txBody>
          <a:bodyPr/>
          <a:lstStyle/>
          <a:p>
            <a:fld id="{84DDFA49-479E-2145-91C9-87A1210B658C}" type="slidenum">
              <a:rPr lang="en-US" smtClean="0"/>
              <a:t>‹#›</a:t>
            </a:fld>
            <a:endParaRPr lang="en-US"/>
          </a:p>
        </p:txBody>
      </p:sp>
    </p:spTree>
    <p:extLst>
      <p:ext uri="{BB962C8B-B14F-4D97-AF65-F5344CB8AC3E}">
        <p14:creationId xmlns:p14="http://schemas.microsoft.com/office/powerpoint/2010/main" val="953051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B9445-0C28-9935-D2B6-64F4EC467B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46E528-B293-E5A2-A3B9-95CF25BBD9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C0B357-A7F4-F5FA-93E6-693AF78EA24C}"/>
              </a:ext>
            </a:extLst>
          </p:cNvPr>
          <p:cNvSpPr>
            <a:spLocks noGrp="1"/>
          </p:cNvSpPr>
          <p:nvPr>
            <p:ph type="dt" sz="half" idx="10"/>
          </p:nvPr>
        </p:nvSpPr>
        <p:spPr/>
        <p:txBody>
          <a:bodyPr/>
          <a:lstStyle/>
          <a:p>
            <a:fld id="{D0886E16-4304-7443-86DC-5E37742E3119}" type="datetimeFigureOut">
              <a:rPr lang="en-US" smtClean="0"/>
              <a:t>12/5/25</a:t>
            </a:fld>
            <a:endParaRPr lang="en-US"/>
          </a:p>
        </p:txBody>
      </p:sp>
      <p:sp>
        <p:nvSpPr>
          <p:cNvPr id="5" name="Footer Placeholder 4">
            <a:extLst>
              <a:ext uri="{FF2B5EF4-FFF2-40B4-BE49-F238E27FC236}">
                <a16:creationId xmlns:a16="http://schemas.microsoft.com/office/drawing/2014/main" id="{B5FD31F9-038B-AABE-B876-5C451DEF3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ACAE7E-94D9-BFFE-26A8-E18E42EAA002}"/>
              </a:ext>
            </a:extLst>
          </p:cNvPr>
          <p:cNvSpPr>
            <a:spLocks noGrp="1"/>
          </p:cNvSpPr>
          <p:nvPr>
            <p:ph type="sldNum" sz="quarter" idx="12"/>
          </p:nvPr>
        </p:nvSpPr>
        <p:spPr/>
        <p:txBody>
          <a:bodyPr/>
          <a:lstStyle/>
          <a:p>
            <a:fld id="{84DDFA49-479E-2145-91C9-87A1210B658C}" type="slidenum">
              <a:rPr lang="en-US" smtClean="0"/>
              <a:t>‹#›</a:t>
            </a:fld>
            <a:endParaRPr lang="en-US"/>
          </a:p>
        </p:txBody>
      </p:sp>
    </p:spTree>
    <p:extLst>
      <p:ext uri="{BB962C8B-B14F-4D97-AF65-F5344CB8AC3E}">
        <p14:creationId xmlns:p14="http://schemas.microsoft.com/office/powerpoint/2010/main" val="839942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75CA2-2AF2-78A8-41F6-06FC5DAB85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9612D5-7B65-E417-47B7-EDD26AB850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B1CCC9-3CD1-4B80-125C-F413E99C5F48}"/>
              </a:ext>
            </a:extLst>
          </p:cNvPr>
          <p:cNvSpPr>
            <a:spLocks noGrp="1"/>
          </p:cNvSpPr>
          <p:nvPr>
            <p:ph type="dt" sz="half" idx="10"/>
          </p:nvPr>
        </p:nvSpPr>
        <p:spPr/>
        <p:txBody>
          <a:bodyPr/>
          <a:lstStyle/>
          <a:p>
            <a:fld id="{D0886E16-4304-7443-86DC-5E37742E3119}" type="datetimeFigureOut">
              <a:rPr lang="en-US" smtClean="0"/>
              <a:t>12/5/25</a:t>
            </a:fld>
            <a:endParaRPr lang="en-US"/>
          </a:p>
        </p:txBody>
      </p:sp>
      <p:sp>
        <p:nvSpPr>
          <p:cNvPr id="5" name="Footer Placeholder 4">
            <a:extLst>
              <a:ext uri="{FF2B5EF4-FFF2-40B4-BE49-F238E27FC236}">
                <a16:creationId xmlns:a16="http://schemas.microsoft.com/office/drawing/2014/main" id="{A24BC068-2840-124B-F372-BF104139F8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824FB4-F7C8-4BD6-B803-CBFA04FFB238}"/>
              </a:ext>
            </a:extLst>
          </p:cNvPr>
          <p:cNvSpPr>
            <a:spLocks noGrp="1"/>
          </p:cNvSpPr>
          <p:nvPr>
            <p:ph type="sldNum" sz="quarter" idx="12"/>
          </p:nvPr>
        </p:nvSpPr>
        <p:spPr/>
        <p:txBody>
          <a:bodyPr/>
          <a:lstStyle/>
          <a:p>
            <a:fld id="{84DDFA49-479E-2145-91C9-87A1210B658C}" type="slidenum">
              <a:rPr lang="en-US" smtClean="0"/>
              <a:t>‹#›</a:t>
            </a:fld>
            <a:endParaRPr lang="en-US"/>
          </a:p>
        </p:txBody>
      </p:sp>
    </p:spTree>
    <p:extLst>
      <p:ext uri="{BB962C8B-B14F-4D97-AF65-F5344CB8AC3E}">
        <p14:creationId xmlns:p14="http://schemas.microsoft.com/office/powerpoint/2010/main" val="3783604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9BF96-5EAF-8BEA-EF2F-76F2416AF0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2DC9E2-D235-A7EE-5514-FF8665176C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EBA78ED-19B8-5F47-997A-AC0A523194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2706A7-CE0D-2AA5-D934-DC0444BF076E}"/>
              </a:ext>
            </a:extLst>
          </p:cNvPr>
          <p:cNvSpPr>
            <a:spLocks noGrp="1"/>
          </p:cNvSpPr>
          <p:nvPr>
            <p:ph type="dt" sz="half" idx="10"/>
          </p:nvPr>
        </p:nvSpPr>
        <p:spPr/>
        <p:txBody>
          <a:bodyPr/>
          <a:lstStyle/>
          <a:p>
            <a:fld id="{D0886E16-4304-7443-86DC-5E37742E3119}" type="datetimeFigureOut">
              <a:rPr lang="en-US" smtClean="0"/>
              <a:t>12/5/25</a:t>
            </a:fld>
            <a:endParaRPr lang="en-US"/>
          </a:p>
        </p:txBody>
      </p:sp>
      <p:sp>
        <p:nvSpPr>
          <p:cNvPr id="6" name="Footer Placeholder 5">
            <a:extLst>
              <a:ext uri="{FF2B5EF4-FFF2-40B4-BE49-F238E27FC236}">
                <a16:creationId xmlns:a16="http://schemas.microsoft.com/office/drawing/2014/main" id="{36F33731-CD7F-10C5-874E-86017F1223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7B79DE-4E58-78F1-6957-02293D0E571B}"/>
              </a:ext>
            </a:extLst>
          </p:cNvPr>
          <p:cNvSpPr>
            <a:spLocks noGrp="1"/>
          </p:cNvSpPr>
          <p:nvPr>
            <p:ph type="sldNum" sz="quarter" idx="12"/>
          </p:nvPr>
        </p:nvSpPr>
        <p:spPr/>
        <p:txBody>
          <a:bodyPr/>
          <a:lstStyle/>
          <a:p>
            <a:fld id="{84DDFA49-479E-2145-91C9-87A1210B658C}" type="slidenum">
              <a:rPr lang="en-US" smtClean="0"/>
              <a:t>‹#›</a:t>
            </a:fld>
            <a:endParaRPr lang="en-US"/>
          </a:p>
        </p:txBody>
      </p:sp>
    </p:spTree>
    <p:extLst>
      <p:ext uri="{BB962C8B-B14F-4D97-AF65-F5344CB8AC3E}">
        <p14:creationId xmlns:p14="http://schemas.microsoft.com/office/powerpoint/2010/main" val="1438269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CE377-4C89-CBA6-172D-60C849ECC3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AF7E29-B388-95D2-8E3E-55C641A0B6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C7617C-DC7C-84D6-D13F-79FFC90303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9271966-1648-EC5B-9CBD-DCAB61183A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0DBADB-8033-6925-2B09-F572D62C38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4FD72E-E2FA-3767-C7F0-CE1300F411F8}"/>
              </a:ext>
            </a:extLst>
          </p:cNvPr>
          <p:cNvSpPr>
            <a:spLocks noGrp="1"/>
          </p:cNvSpPr>
          <p:nvPr>
            <p:ph type="dt" sz="half" idx="10"/>
          </p:nvPr>
        </p:nvSpPr>
        <p:spPr/>
        <p:txBody>
          <a:bodyPr/>
          <a:lstStyle/>
          <a:p>
            <a:fld id="{D0886E16-4304-7443-86DC-5E37742E3119}" type="datetimeFigureOut">
              <a:rPr lang="en-US" smtClean="0"/>
              <a:t>12/5/25</a:t>
            </a:fld>
            <a:endParaRPr lang="en-US"/>
          </a:p>
        </p:txBody>
      </p:sp>
      <p:sp>
        <p:nvSpPr>
          <p:cNvPr id="8" name="Footer Placeholder 7">
            <a:extLst>
              <a:ext uri="{FF2B5EF4-FFF2-40B4-BE49-F238E27FC236}">
                <a16:creationId xmlns:a16="http://schemas.microsoft.com/office/drawing/2014/main" id="{1F9A1E0A-94A3-7B43-A7E4-6D2E99C4127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02FEA1-D165-0A03-32CA-D7934FA55295}"/>
              </a:ext>
            </a:extLst>
          </p:cNvPr>
          <p:cNvSpPr>
            <a:spLocks noGrp="1"/>
          </p:cNvSpPr>
          <p:nvPr>
            <p:ph type="sldNum" sz="quarter" idx="12"/>
          </p:nvPr>
        </p:nvSpPr>
        <p:spPr/>
        <p:txBody>
          <a:bodyPr/>
          <a:lstStyle/>
          <a:p>
            <a:fld id="{84DDFA49-479E-2145-91C9-87A1210B658C}" type="slidenum">
              <a:rPr lang="en-US" smtClean="0"/>
              <a:t>‹#›</a:t>
            </a:fld>
            <a:endParaRPr lang="en-US"/>
          </a:p>
        </p:txBody>
      </p:sp>
    </p:spTree>
    <p:extLst>
      <p:ext uri="{BB962C8B-B14F-4D97-AF65-F5344CB8AC3E}">
        <p14:creationId xmlns:p14="http://schemas.microsoft.com/office/powerpoint/2010/main" val="2573184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D127F-80E2-0A39-D2FF-8BB690E5DE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AD5CFC8-1F3A-B31D-9659-92D165227F54}"/>
              </a:ext>
            </a:extLst>
          </p:cNvPr>
          <p:cNvSpPr>
            <a:spLocks noGrp="1"/>
          </p:cNvSpPr>
          <p:nvPr>
            <p:ph type="dt" sz="half" idx="10"/>
          </p:nvPr>
        </p:nvSpPr>
        <p:spPr/>
        <p:txBody>
          <a:bodyPr/>
          <a:lstStyle/>
          <a:p>
            <a:fld id="{D0886E16-4304-7443-86DC-5E37742E3119}" type="datetimeFigureOut">
              <a:rPr lang="en-US" smtClean="0"/>
              <a:t>12/5/25</a:t>
            </a:fld>
            <a:endParaRPr lang="en-US"/>
          </a:p>
        </p:txBody>
      </p:sp>
      <p:sp>
        <p:nvSpPr>
          <p:cNvPr id="4" name="Footer Placeholder 3">
            <a:extLst>
              <a:ext uri="{FF2B5EF4-FFF2-40B4-BE49-F238E27FC236}">
                <a16:creationId xmlns:a16="http://schemas.microsoft.com/office/drawing/2014/main" id="{23934EFB-0872-A4F5-CBBC-20EBC288D7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F94B63-1D64-FC20-4D14-83A7B0D44009}"/>
              </a:ext>
            </a:extLst>
          </p:cNvPr>
          <p:cNvSpPr>
            <a:spLocks noGrp="1"/>
          </p:cNvSpPr>
          <p:nvPr>
            <p:ph type="sldNum" sz="quarter" idx="12"/>
          </p:nvPr>
        </p:nvSpPr>
        <p:spPr/>
        <p:txBody>
          <a:bodyPr/>
          <a:lstStyle/>
          <a:p>
            <a:fld id="{84DDFA49-479E-2145-91C9-87A1210B658C}" type="slidenum">
              <a:rPr lang="en-US" smtClean="0"/>
              <a:t>‹#›</a:t>
            </a:fld>
            <a:endParaRPr lang="en-US"/>
          </a:p>
        </p:txBody>
      </p:sp>
    </p:spTree>
    <p:extLst>
      <p:ext uri="{BB962C8B-B14F-4D97-AF65-F5344CB8AC3E}">
        <p14:creationId xmlns:p14="http://schemas.microsoft.com/office/powerpoint/2010/main" val="1295515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E38741-4C45-50FF-4684-E64833938E84}"/>
              </a:ext>
            </a:extLst>
          </p:cNvPr>
          <p:cNvSpPr>
            <a:spLocks noGrp="1"/>
          </p:cNvSpPr>
          <p:nvPr>
            <p:ph type="dt" sz="half" idx="10"/>
          </p:nvPr>
        </p:nvSpPr>
        <p:spPr/>
        <p:txBody>
          <a:bodyPr/>
          <a:lstStyle/>
          <a:p>
            <a:fld id="{D0886E16-4304-7443-86DC-5E37742E3119}" type="datetimeFigureOut">
              <a:rPr lang="en-US" smtClean="0"/>
              <a:t>12/5/25</a:t>
            </a:fld>
            <a:endParaRPr lang="en-US"/>
          </a:p>
        </p:txBody>
      </p:sp>
      <p:sp>
        <p:nvSpPr>
          <p:cNvPr id="3" name="Footer Placeholder 2">
            <a:extLst>
              <a:ext uri="{FF2B5EF4-FFF2-40B4-BE49-F238E27FC236}">
                <a16:creationId xmlns:a16="http://schemas.microsoft.com/office/drawing/2014/main" id="{E5D02F3E-051F-6540-9B2B-A16CAA1A7C7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9A06E97-6A57-DB2D-6E97-2B02D4444478}"/>
              </a:ext>
            </a:extLst>
          </p:cNvPr>
          <p:cNvSpPr>
            <a:spLocks noGrp="1"/>
          </p:cNvSpPr>
          <p:nvPr>
            <p:ph type="sldNum" sz="quarter" idx="12"/>
          </p:nvPr>
        </p:nvSpPr>
        <p:spPr/>
        <p:txBody>
          <a:bodyPr/>
          <a:lstStyle/>
          <a:p>
            <a:fld id="{84DDFA49-479E-2145-91C9-87A1210B658C}" type="slidenum">
              <a:rPr lang="en-US" smtClean="0"/>
              <a:t>‹#›</a:t>
            </a:fld>
            <a:endParaRPr lang="en-US"/>
          </a:p>
        </p:txBody>
      </p:sp>
    </p:spTree>
    <p:extLst>
      <p:ext uri="{BB962C8B-B14F-4D97-AF65-F5344CB8AC3E}">
        <p14:creationId xmlns:p14="http://schemas.microsoft.com/office/powerpoint/2010/main" val="1503003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408B4-893B-864E-68B6-88D93AAC3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FF322E-73F2-B776-6B98-3226B22688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F55E12-197C-ED7E-CE1B-02248A5799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8EB1F7-BEF7-E764-1726-F7F6CC31BD6C}"/>
              </a:ext>
            </a:extLst>
          </p:cNvPr>
          <p:cNvSpPr>
            <a:spLocks noGrp="1"/>
          </p:cNvSpPr>
          <p:nvPr>
            <p:ph type="dt" sz="half" idx="10"/>
          </p:nvPr>
        </p:nvSpPr>
        <p:spPr/>
        <p:txBody>
          <a:bodyPr/>
          <a:lstStyle/>
          <a:p>
            <a:fld id="{D0886E16-4304-7443-86DC-5E37742E3119}" type="datetimeFigureOut">
              <a:rPr lang="en-US" smtClean="0"/>
              <a:t>12/5/25</a:t>
            </a:fld>
            <a:endParaRPr lang="en-US"/>
          </a:p>
        </p:txBody>
      </p:sp>
      <p:sp>
        <p:nvSpPr>
          <p:cNvPr id="6" name="Footer Placeholder 5">
            <a:extLst>
              <a:ext uri="{FF2B5EF4-FFF2-40B4-BE49-F238E27FC236}">
                <a16:creationId xmlns:a16="http://schemas.microsoft.com/office/drawing/2014/main" id="{AC988050-9A86-9304-81DB-205110DA4E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9D6788-975E-3E0B-CFC0-1E9948ADD252}"/>
              </a:ext>
            </a:extLst>
          </p:cNvPr>
          <p:cNvSpPr>
            <a:spLocks noGrp="1"/>
          </p:cNvSpPr>
          <p:nvPr>
            <p:ph type="sldNum" sz="quarter" idx="12"/>
          </p:nvPr>
        </p:nvSpPr>
        <p:spPr/>
        <p:txBody>
          <a:bodyPr/>
          <a:lstStyle/>
          <a:p>
            <a:fld id="{84DDFA49-479E-2145-91C9-87A1210B658C}" type="slidenum">
              <a:rPr lang="en-US" smtClean="0"/>
              <a:t>‹#›</a:t>
            </a:fld>
            <a:endParaRPr lang="en-US"/>
          </a:p>
        </p:txBody>
      </p:sp>
    </p:spTree>
    <p:extLst>
      <p:ext uri="{BB962C8B-B14F-4D97-AF65-F5344CB8AC3E}">
        <p14:creationId xmlns:p14="http://schemas.microsoft.com/office/powerpoint/2010/main" val="1724405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5B3C1-5A3F-90D1-5A40-FC9F46CD82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C5E024-5591-9182-7C84-CF58395E38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103112-F9A5-75BD-70D1-B17C7131E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498D98-0914-3EAC-5391-F91937EDDC5D}"/>
              </a:ext>
            </a:extLst>
          </p:cNvPr>
          <p:cNvSpPr>
            <a:spLocks noGrp="1"/>
          </p:cNvSpPr>
          <p:nvPr>
            <p:ph type="dt" sz="half" idx="10"/>
          </p:nvPr>
        </p:nvSpPr>
        <p:spPr/>
        <p:txBody>
          <a:bodyPr/>
          <a:lstStyle/>
          <a:p>
            <a:fld id="{D0886E16-4304-7443-86DC-5E37742E3119}" type="datetimeFigureOut">
              <a:rPr lang="en-US" smtClean="0"/>
              <a:t>12/5/25</a:t>
            </a:fld>
            <a:endParaRPr lang="en-US"/>
          </a:p>
        </p:txBody>
      </p:sp>
      <p:sp>
        <p:nvSpPr>
          <p:cNvPr id="6" name="Footer Placeholder 5">
            <a:extLst>
              <a:ext uri="{FF2B5EF4-FFF2-40B4-BE49-F238E27FC236}">
                <a16:creationId xmlns:a16="http://schemas.microsoft.com/office/drawing/2014/main" id="{114F6E65-7F61-FE64-A8C5-74E8E2EEB1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CD816E-B098-42EE-9399-1D917FACE558}"/>
              </a:ext>
            </a:extLst>
          </p:cNvPr>
          <p:cNvSpPr>
            <a:spLocks noGrp="1"/>
          </p:cNvSpPr>
          <p:nvPr>
            <p:ph type="sldNum" sz="quarter" idx="12"/>
          </p:nvPr>
        </p:nvSpPr>
        <p:spPr/>
        <p:txBody>
          <a:bodyPr/>
          <a:lstStyle/>
          <a:p>
            <a:fld id="{84DDFA49-479E-2145-91C9-87A1210B658C}" type="slidenum">
              <a:rPr lang="en-US" smtClean="0"/>
              <a:t>‹#›</a:t>
            </a:fld>
            <a:endParaRPr lang="en-US"/>
          </a:p>
        </p:txBody>
      </p:sp>
    </p:spTree>
    <p:extLst>
      <p:ext uri="{BB962C8B-B14F-4D97-AF65-F5344CB8AC3E}">
        <p14:creationId xmlns:p14="http://schemas.microsoft.com/office/powerpoint/2010/main" val="3014518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E3243-8AA6-1659-0A55-8CD6C823D9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766B9F-4DF2-3343-8716-93569CD068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401EAA-6700-89EC-1519-FCA9F8B7E2E0}"/>
              </a:ext>
            </a:extLst>
          </p:cNvPr>
          <p:cNvSpPr>
            <a:spLocks noGrp="1"/>
          </p:cNvSpPr>
          <p:nvPr>
            <p:ph type="dt" sz="half" idx="10"/>
          </p:nvPr>
        </p:nvSpPr>
        <p:spPr/>
        <p:txBody>
          <a:bodyPr/>
          <a:lstStyle/>
          <a:p>
            <a:fld id="{D0886E16-4304-7443-86DC-5E37742E3119}" type="datetimeFigureOut">
              <a:rPr lang="en-US" smtClean="0"/>
              <a:t>12/5/25</a:t>
            </a:fld>
            <a:endParaRPr lang="en-US"/>
          </a:p>
        </p:txBody>
      </p:sp>
      <p:sp>
        <p:nvSpPr>
          <p:cNvPr id="5" name="Footer Placeholder 4">
            <a:extLst>
              <a:ext uri="{FF2B5EF4-FFF2-40B4-BE49-F238E27FC236}">
                <a16:creationId xmlns:a16="http://schemas.microsoft.com/office/drawing/2014/main" id="{48C87CBD-E24C-A0FD-BA21-10C1E44D49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D5368D-AD16-F664-0753-CBC24CAE4782}"/>
              </a:ext>
            </a:extLst>
          </p:cNvPr>
          <p:cNvSpPr>
            <a:spLocks noGrp="1"/>
          </p:cNvSpPr>
          <p:nvPr>
            <p:ph type="sldNum" sz="quarter" idx="12"/>
          </p:nvPr>
        </p:nvSpPr>
        <p:spPr/>
        <p:txBody>
          <a:bodyPr/>
          <a:lstStyle/>
          <a:p>
            <a:fld id="{84DDFA49-479E-2145-91C9-87A1210B658C}" type="slidenum">
              <a:rPr lang="en-US" smtClean="0"/>
              <a:t>‹#›</a:t>
            </a:fld>
            <a:endParaRPr lang="en-US"/>
          </a:p>
        </p:txBody>
      </p:sp>
    </p:spTree>
    <p:extLst>
      <p:ext uri="{BB962C8B-B14F-4D97-AF65-F5344CB8AC3E}">
        <p14:creationId xmlns:p14="http://schemas.microsoft.com/office/powerpoint/2010/main" val="3199479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15EC05-4541-8DDD-4A43-23A9E23DD3D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1C41952-6D32-3C5F-61EF-10D9AE6788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D9A66D-5AFD-E252-9088-62673528074F}"/>
              </a:ext>
            </a:extLst>
          </p:cNvPr>
          <p:cNvSpPr>
            <a:spLocks noGrp="1"/>
          </p:cNvSpPr>
          <p:nvPr>
            <p:ph type="dt" sz="half" idx="10"/>
          </p:nvPr>
        </p:nvSpPr>
        <p:spPr/>
        <p:txBody>
          <a:bodyPr/>
          <a:lstStyle/>
          <a:p>
            <a:fld id="{D0886E16-4304-7443-86DC-5E37742E3119}" type="datetimeFigureOut">
              <a:rPr lang="en-US" smtClean="0"/>
              <a:t>12/5/25</a:t>
            </a:fld>
            <a:endParaRPr lang="en-US"/>
          </a:p>
        </p:txBody>
      </p:sp>
      <p:sp>
        <p:nvSpPr>
          <p:cNvPr id="5" name="Footer Placeholder 4">
            <a:extLst>
              <a:ext uri="{FF2B5EF4-FFF2-40B4-BE49-F238E27FC236}">
                <a16:creationId xmlns:a16="http://schemas.microsoft.com/office/drawing/2014/main" id="{89923112-CA1E-5695-C501-A97207B72A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6DB673-D615-27D7-939E-E14473263EE0}"/>
              </a:ext>
            </a:extLst>
          </p:cNvPr>
          <p:cNvSpPr>
            <a:spLocks noGrp="1"/>
          </p:cNvSpPr>
          <p:nvPr>
            <p:ph type="sldNum" sz="quarter" idx="12"/>
          </p:nvPr>
        </p:nvSpPr>
        <p:spPr/>
        <p:txBody>
          <a:bodyPr/>
          <a:lstStyle/>
          <a:p>
            <a:fld id="{84DDFA49-479E-2145-91C9-87A1210B658C}" type="slidenum">
              <a:rPr lang="en-US" smtClean="0"/>
              <a:t>‹#›</a:t>
            </a:fld>
            <a:endParaRPr lang="en-US"/>
          </a:p>
        </p:txBody>
      </p:sp>
    </p:spTree>
    <p:extLst>
      <p:ext uri="{BB962C8B-B14F-4D97-AF65-F5344CB8AC3E}">
        <p14:creationId xmlns:p14="http://schemas.microsoft.com/office/powerpoint/2010/main" val="359599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0C68AF-E7C2-72FE-4509-7376979A94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1ACBB9-6738-9D66-B114-B9E1BCACC5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54C731-47ED-2B01-2931-67026BFFA5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886E16-4304-7443-86DC-5E37742E3119}" type="datetimeFigureOut">
              <a:rPr lang="en-US" smtClean="0"/>
              <a:t>12/5/25</a:t>
            </a:fld>
            <a:endParaRPr lang="en-US"/>
          </a:p>
        </p:txBody>
      </p:sp>
      <p:sp>
        <p:nvSpPr>
          <p:cNvPr id="5" name="Footer Placeholder 4">
            <a:extLst>
              <a:ext uri="{FF2B5EF4-FFF2-40B4-BE49-F238E27FC236}">
                <a16:creationId xmlns:a16="http://schemas.microsoft.com/office/drawing/2014/main" id="{9088CE6F-7EB7-F1CC-3917-6AAA792401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2860DA7-0D39-986F-CDD2-E66A99603D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DDFA49-479E-2145-91C9-87A1210B658C}" type="slidenum">
              <a:rPr lang="en-US" smtClean="0"/>
              <a:t>‹#›</a:t>
            </a:fld>
            <a:endParaRPr lang="en-US"/>
          </a:p>
        </p:txBody>
      </p:sp>
    </p:spTree>
    <p:extLst>
      <p:ext uri="{BB962C8B-B14F-4D97-AF65-F5344CB8AC3E}">
        <p14:creationId xmlns:p14="http://schemas.microsoft.com/office/powerpoint/2010/main" val="39280394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1.pn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1.png"/><Relationship Id="rId4"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89B7BFD-8F45-4093-AD9C-91B15B05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042BC7E5-76DB-4826-8C07-4A49B6353F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479558"/>
            <a:ext cx="1861854" cy="717514"/>
            <a:chOff x="0" y="1479558"/>
            <a:chExt cx="1861854" cy="717514"/>
          </a:xfrm>
          <a:solidFill>
            <a:schemeClr val="bg1"/>
          </a:solidFill>
        </p:grpSpPr>
        <p:sp>
          <p:nvSpPr>
            <p:cNvPr id="11" name="Freeform: Shape 10">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2" name="Freeform: Shape 11">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sp>
        <p:nvSpPr>
          <p:cNvPr id="14" name="Freeform: Shape 13">
            <a:extLst>
              <a:ext uri="{FF2B5EF4-FFF2-40B4-BE49-F238E27FC236}">
                <a16:creationId xmlns:a16="http://schemas.microsoft.com/office/drawing/2014/main" id="{498F8FF6-43B4-494A-AF8F-123A4983E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18992" y="-34538"/>
            <a:ext cx="6655405" cy="6335470"/>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B06059C-C357-4011-82B9-9C01063013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5194" y="-23905"/>
            <a:ext cx="6705251" cy="6318526"/>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AFEC601-A132-47EE-B0C2-B38ACD9FC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86886" y="-23905"/>
            <a:ext cx="6705251" cy="6215019"/>
          </a:xfrm>
          <a:custGeom>
            <a:avLst/>
            <a:gdLst>
              <a:gd name="connsiteX0" fmla="*/ 1529549 w 6355652"/>
              <a:gd name="connsiteY0" fmla="*/ 0 h 5890980"/>
              <a:gd name="connsiteX1" fmla="*/ 4826104 w 6355652"/>
              <a:gd name="connsiteY1" fmla="*/ 0 h 5890980"/>
              <a:gd name="connsiteX2" fmla="*/ 4954579 w 6355652"/>
              <a:gd name="connsiteY2" fmla="*/ 78051 h 5890980"/>
              <a:gd name="connsiteX3" fmla="*/ 6355652 w 6355652"/>
              <a:gd name="connsiteY3" fmla="*/ 2713154 h 5890980"/>
              <a:gd name="connsiteX4" fmla="*/ 3177826 w 6355652"/>
              <a:gd name="connsiteY4" fmla="*/ 5890980 h 5890980"/>
              <a:gd name="connsiteX5" fmla="*/ 0 w 6355652"/>
              <a:gd name="connsiteY5" fmla="*/ 2713154 h 5890980"/>
              <a:gd name="connsiteX6" fmla="*/ 1401073 w 6355652"/>
              <a:gd name="connsiteY6" fmla="*/ 78051 h 589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5890980">
                <a:moveTo>
                  <a:pt x="1529549" y="0"/>
                </a:moveTo>
                <a:lnTo>
                  <a:pt x="4826104" y="0"/>
                </a:lnTo>
                <a:lnTo>
                  <a:pt x="4954579" y="78051"/>
                </a:lnTo>
                <a:cubicBezTo>
                  <a:pt x="5799886" y="649129"/>
                  <a:pt x="6355652" y="1616239"/>
                  <a:pt x="6355652" y="2713154"/>
                </a:cubicBezTo>
                <a:cubicBezTo>
                  <a:pt x="6355652" y="4468219"/>
                  <a:pt x="4932891" y="5890980"/>
                  <a:pt x="3177826" y="5890980"/>
                </a:cubicBezTo>
                <a:cubicBezTo>
                  <a:pt x="1422761" y="5890980"/>
                  <a:pt x="0" y="4468219"/>
                  <a:pt x="0" y="2713154"/>
                </a:cubicBezTo>
                <a:cubicBezTo>
                  <a:pt x="0" y="1616239"/>
                  <a:pt x="555766" y="649129"/>
                  <a:pt x="1401073" y="78051"/>
                </a:cubicBezTo>
                <a:close/>
              </a:path>
            </a:pathLst>
          </a:cu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64AEEE-D48B-14F3-DFD8-338AF80A2210}"/>
              </a:ext>
            </a:extLst>
          </p:cNvPr>
          <p:cNvSpPr>
            <a:spLocks noGrp="1"/>
          </p:cNvSpPr>
          <p:nvPr>
            <p:ph type="ctrTitle"/>
          </p:nvPr>
        </p:nvSpPr>
        <p:spPr>
          <a:xfrm>
            <a:off x="2242409" y="895483"/>
            <a:ext cx="5786232" cy="3011190"/>
          </a:xfrm>
        </p:spPr>
        <p:txBody>
          <a:bodyPr>
            <a:normAutofit/>
          </a:bodyPr>
          <a:lstStyle/>
          <a:p>
            <a:r>
              <a:rPr lang="en-GB" sz="5400">
                <a:solidFill>
                  <a:schemeClr val="bg1"/>
                </a:solidFill>
              </a:rPr>
              <a:t>Thrust Vectoring: What is it and how does it work?</a:t>
            </a:r>
            <a:endParaRPr lang="en-US" sz="5400">
              <a:solidFill>
                <a:schemeClr val="bg1"/>
              </a:solidFill>
            </a:endParaRPr>
          </a:p>
        </p:txBody>
      </p:sp>
      <p:sp>
        <p:nvSpPr>
          <p:cNvPr id="3" name="Subtitle 2">
            <a:extLst>
              <a:ext uri="{FF2B5EF4-FFF2-40B4-BE49-F238E27FC236}">
                <a16:creationId xmlns:a16="http://schemas.microsoft.com/office/drawing/2014/main" id="{B30DF38F-8559-FF88-D271-2C234B89217F}"/>
              </a:ext>
            </a:extLst>
          </p:cNvPr>
          <p:cNvSpPr>
            <a:spLocks noGrp="1"/>
          </p:cNvSpPr>
          <p:nvPr>
            <p:ph type="subTitle" idx="1"/>
          </p:nvPr>
        </p:nvSpPr>
        <p:spPr>
          <a:xfrm>
            <a:off x="2466270" y="4142096"/>
            <a:ext cx="5338511" cy="1055142"/>
          </a:xfrm>
        </p:spPr>
        <p:txBody>
          <a:bodyPr>
            <a:normAutofit/>
          </a:bodyPr>
          <a:lstStyle/>
          <a:p>
            <a:r>
              <a:rPr lang="en-GB" sz="2000">
                <a:solidFill>
                  <a:schemeClr val="bg1"/>
                </a:solidFill>
              </a:rPr>
              <a:t>By Arthur Jacobs</a:t>
            </a:r>
            <a:endParaRPr lang="en-US" sz="2000">
              <a:solidFill>
                <a:schemeClr val="bg1"/>
              </a:solidFill>
            </a:endParaRPr>
          </a:p>
        </p:txBody>
      </p:sp>
      <p:sp>
        <p:nvSpPr>
          <p:cNvPr id="20" name="Graphic 212">
            <a:extLst>
              <a:ext uri="{FF2B5EF4-FFF2-40B4-BE49-F238E27FC236}">
                <a16:creationId xmlns:a16="http://schemas.microsoft.com/office/drawing/2014/main" id="{279CAF82-0ECF-42BE-8F37-F71941E5D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4716" y="188494"/>
            <a:ext cx="1048371" cy="104837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218E095B-4870-4AD5-9C41-C16D59523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4716" y="188494"/>
            <a:ext cx="1048371" cy="104837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4"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583101" y="3578317"/>
            <a:ext cx="1054466" cy="469689"/>
            <a:chOff x="9841624" y="4115729"/>
            <a:chExt cx="602169" cy="268223"/>
          </a:xfrm>
          <a:solidFill>
            <a:schemeClr val="bg1"/>
          </a:solidFill>
        </p:grpSpPr>
        <p:sp>
          <p:nvSpPr>
            <p:cNvPr id="25" name="Freeform: Shape 24">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1" name="Oval 30">
            <a:extLst>
              <a:ext uri="{FF2B5EF4-FFF2-40B4-BE49-F238E27FC236}">
                <a16:creationId xmlns:a16="http://schemas.microsoft.com/office/drawing/2014/main" id="{033BC44A-0661-43B4-9C14-FD5963C226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4525" y="4910353"/>
            <a:ext cx="468090" cy="468090"/>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3" name="Oval 32">
            <a:extLst>
              <a:ext uri="{FF2B5EF4-FFF2-40B4-BE49-F238E27FC236}">
                <a16:creationId xmlns:a16="http://schemas.microsoft.com/office/drawing/2014/main" id="{BE8CB2F0-2F5A-4EBD-B214-E0309C31F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4525" y="4910353"/>
            <a:ext cx="468090" cy="468090"/>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5" name="Freeform: Shape 34">
            <a:extLst>
              <a:ext uri="{FF2B5EF4-FFF2-40B4-BE49-F238E27FC236}">
                <a16:creationId xmlns:a16="http://schemas.microsoft.com/office/drawing/2014/main" id="{FFD3887D-244B-4EC4-9208-E304984C5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2467" y="4200769"/>
            <a:ext cx="2769534"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7" name="Freeform: Shape 36">
            <a:extLst>
              <a:ext uri="{FF2B5EF4-FFF2-40B4-BE49-F238E27FC236}">
                <a16:creationId xmlns:a16="http://schemas.microsoft.com/office/drawing/2014/main" id="{97224C31-855E-4593-8A58-5B2B0CC4F5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2467" y="4200769"/>
            <a:ext cx="2769534"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17" name="Audio 16">
            <a:extLst>
              <a:ext uri="{FF2B5EF4-FFF2-40B4-BE49-F238E27FC236}">
                <a16:creationId xmlns:a16="http://schemas.microsoft.com/office/drawing/2014/main" id="{9BCCED77-36DC-576E-BD15-26F47B7EF73C}"/>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113504013"/>
      </p:ext>
    </p:extLst>
  </p:cSld>
  <p:clrMapOvr>
    <a:masterClrMapping/>
  </p:clrMapOvr>
  <mc:AlternateContent xmlns:mc="http://schemas.openxmlformats.org/markup-compatibility/2006">
    <mc:Choice xmlns:p14="http://schemas.microsoft.com/office/powerpoint/2010/main" Requires="p14">
      <p:transition spd="slow" p14:dur="2000" advTm="9914"/>
    </mc:Choice>
    <mc:Fallback>
      <p:transition spd="slow" advTm="991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3E51FB-1744-65DC-EFC9-718203DEF05D}"/>
              </a:ext>
            </a:extLst>
          </p:cNvPr>
          <p:cNvSpPr>
            <a:spLocks noGrp="1"/>
          </p:cNvSpPr>
          <p:nvPr>
            <p:ph type="title"/>
          </p:nvPr>
        </p:nvSpPr>
        <p:spPr>
          <a:xfrm>
            <a:off x="640080" y="325369"/>
            <a:ext cx="4368602" cy="1956841"/>
          </a:xfrm>
        </p:spPr>
        <p:txBody>
          <a:bodyPr anchor="b">
            <a:normAutofit/>
          </a:bodyPr>
          <a:lstStyle/>
          <a:p>
            <a:r>
              <a:rPr lang="en-US" sz="5400"/>
              <a:t>W</a:t>
            </a:r>
            <a:r>
              <a:rPr lang="en-GB" sz="5400"/>
              <a:t>hat is Thrust Vectoring?</a:t>
            </a:r>
            <a:endParaRPr lang="en-US" sz="5400"/>
          </a:p>
        </p:txBody>
      </p:sp>
      <p:sp>
        <p:nvSpPr>
          <p:cNvPr id="20"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3960A11-09F3-E5BE-5917-827A2ADFFA5A}"/>
              </a:ext>
            </a:extLst>
          </p:cNvPr>
          <p:cNvSpPr>
            <a:spLocks noGrp="1"/>
          </p:cNvSpPr>
          <p:nvPr>
            <p:ph idx="1"/>
          </p:nvPr>
        </p:nvSpPr>
        <p:spPr>
          <a:xfrm>
            <a:off x="640080" y="2872899"/>
            <a:ext cx="4243589" cy="3320668"/>
          </a:xfrm>
        </p:spPr>
        <p:txBody>
          <a:bodyPr>
            <a:normAutofit/>
          </a:bodyPr>
          <a:lstStyle/>
          <a:p>
            <a:r>
              <a:rPr lang="en-GB" sz="1700"/>
              <a:t>Thrust vectoring itself is a flight control technique where the direction of an engines exhaust is purposefully deflected to generate extra control and lift</a:t>
            </a:r>
            <a:r>
              <a:rPr lang="en-US" sz="1700"/>
              <a:t> (Angle of Attack)</a:t>
            </a:r>
            <a:r>
              <a:rPr lang="en-GB" sz="1700"/>
              <a:t> so an aircraft can turn tighter.</a:t>
            </a:r>
            <a:endParaRPr lang="en-US" sz="1700"/>
          </a:p>
          <a:p>
            <a:r>
              <a:rPr lang="en-US" sz="1700"/>
              <a:t>This can also include V/STOL (Vertical short takeoff and landing), which changes the operational deployment of capabilities of aircraft, such as those which can take off from aircraft carriers such as the harrier and F35 B.</a:t>
            </a:r>
          </a:p>
        </p:txBody>
      </p:sp>
      <p:pic>
        <p:nvPicPr>
          <p:cNvPr id="6" name="Picture 5" descr="Vantagens do bico do motor quadrado sobre o circular? - EstamosCuriosos">
            <a:extLst>
              <a:ext uri="{FF2B5EF4-FFF2-40B4-BE49-F238E27FC236}">
                <a16:creationId xmlns:a16="http://schemas.microsoft.com/office/drawing/2014/main" id="{A98E6CC0-7216-ED07-15A7-4796CEE19939}"/>
              </a:ext>
            </a:extLst>
          </p:cNvPr>
          <p:cNvPicPr>
            <a:picLocks noChangeAspect="1"/>
          </p:cNvPicPr>
          <p:nvPr/>
        </p:nvPicPr>
        <p:blipFill>
          <a:blip r:embed="rId4">
            <a:extLst>
              <a:ext uri="{28A0092B-C50C-407E-A947-70E740481C1C}">
                <a14:useLocalDpi xmlns:a14="http://schemas.microsoft.com/office/drawing/2010/main" val="0"/>
              </a:ext>
            </a:extLst>
          </a:blip>
          <a:srcRect l="15624" r="17175" b="2"/>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10" name="Audio 9">
            <a:extLst>
              <a:ext uri="{FF2B5EF4-FFF2-40B4-BE49-F238E27FC236}">
                <a16:creationId xmlns:a16="http://schemas.microsoft.com/office/drawing/2014/main" id="{D58FB6C9-6149-8409-FFE4-47414F9D708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931701578"/>
      </p:ext>
    </p:extLst>
  </p:cSld>
  <p:clrMapOvr>
    <a:masterClrMapping/>
  </p:clrMapOvr>
  <p:transition spd="slow" advTm="48425">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0447AC-33EC-A3DF-46B1-D8B3111E029F}"/>
              </a:ext>
            </a:extLst>
          </p:cNvPr>
          <p:cNvSpPr>
            <a:spLocks noGrp="1"/>
          </p:cNvSpPr>
          <p:nvPr>
            <p:ph type="title"/>
          </p:nvPr>
        </p:nvSpPr>
        <p:spPr>
          <a:xfrm>
            <a:off x="5297762" y="329184"/>
            <a:ext cx="6251110" cy="1783080"/>
          </a:xfrm>
        </p:spPr>
        <p:txBody>
          <a:bodyPr anchor="b">
            <a:normAutofit/>
          </a:bodyPr>
          <a:lstStyle/>
          <a:p>
            <a:r>
              <a:rPr lang="en-US" sz="5400"/>
              <a:t>The Harrier Jump-Jet</a:t>
            </a:r>
          </a:p>
        </p:txBody>
      </p:sp>
      <p:pic>
        <p:nvPicPr>
          <p:cNvPr id="10" name="Picture 9" descr="File:RAF Harrier GR9.JPG - Wikimedia Commons">
            <a:extLst>
              <a:ext uri="{FF2B5EF4-FFF2-40B4-BE49-F238E27FC236}">
                <a16:creationId xmlns:a16="http://schemas.microsoft.com/office/drawing/2014/main" id="{5890AF81-6488-0159-D086-DFC8FE20475C}"/>
              </a:ext>
            </a:extLst>
          </p:cNvPr>
          <p:cNvPicPr>
            <a:picLocks noChangeAspect="1"/>
          </p:cNvPicPr>
          <p:nvPr/>
        </p:nvPicPr>
        <p:blipFill>
          <a:blip r:embed="rId4">
            <a:extLst>
              <a:ext uri="{28A0092B-C50C-407E-A947-70E740481C1C}">
                <a14:useLocalDpi xmlns:a14="http://schemas.microsoft.com/office/drawing/2010/main" val="0"/>
              </a:ext>
            </a:extLst>
          </a:blip>
          <a:srcRect l="15769" r="3907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7"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7B6A37E5-762B-117B-8A14-25664DC92092}"/>
              </a:ext>
            </a:extLst>
          </p:cNvPr>
          <p:cNvSpPr>
            <a:spLocks noGrp="1"/>
          </p:cNvSpPr>
          <p:nvPr>
            <p:ph idx="1"/>
          </p:nvPr>
        </p:nvSpPr>
        <p:spPr>
          <a:xfrm>
            <a:off x="5297762" y="2706624"/>
            <a:ext cx="6251110" cy="3483864"/>
          </a:xfrm>
        </p:spPr>
        <p:txBody>
          <a:bodyPr>
            <a:normAutofit/>
          </a:bodyPr>
          <a:lstStyle/>
          <a:p>
            <a:r>
              <a:rPr lang="en-US" sz="2000" dirty="0"/>
              <a:t>The Hawker-</a:t>
            </a:r>
            <a:r>
              <a:rPr lang="en-US" sz="2000" dirty="0" err="1"/>
              <a:t>Siddeley</a:t>
            </a:r>
            <a:r>
              <a:rPr lang="en-US" sz="2000" dirty="0"/>
              <a:t> Harrier was the first ever operational usage of vectored thrust. It was mainly used in V/STOL scenarios, but pilots in the </a:t>
            </a:r>
            <a:r>
              <a:rPr lang="en-US" sz="2000" dirty="0" err="1"/>
              <a:t>falklands</a:t>
            </a:r>
            <a:r>
              <a:rPr lang="en-US" sz="2000" dirty="0"/>
              <a:t> war also were reported to direct its four mechanically swiveling nozzles in combat, to give them a maneuverable edge against the Argentinian pilots they faced.</a:t>
            </a:r>
          </a:p>
          <a:p>
            <a:endParaRPr lang="en-US" sz="2000" dirty="0"/>
          </a:p>
          <a:p>
            <a:r>
              <a:rPr lang="en-US" sz="2000" dirty="0"/>
              <a:t>It was developed in the late 1950s to the </a:t>
            </a:r>
            <a:r>
              <a:rPr lang="en-US" sz="2000" dirty="0" err="1"/>
              <a:t>ealy</a:t>
            </a:r>
            <a:r>
              <a:rPr lang="en-US" sz="2000" dirty="0"/>
              <a:t> 1960s, with its introduction to service in the RAF in 1969. It was in service for over 40 years with the RAF, and was exported all over the world, from America to Spain.</a:t>
            </a:r>
          </a:p>
        </p:txBody>
      </p:sp>
      <p:pic>
        <p:nvPicPr>
          <p:cNvPr id="8" name="Audio 7">
            <a:extLst>
              <a:ext uri="{FF2B5EF4-FFF2-40B4-BE49-F238E27FC236}">
                <a16:creationId xmlns:a16="http://schemas.microsoft.com/office/drawing/2014/main" id="{AEF80D60-DC7B-A15D-4FF7-9E5E54EC8F3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65486184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advTm="75627">
        <p15:prstTrans prst="curtains"/>
      </p:transition>
    </mc:Choice>
    <mc:Fallback>
      <p:transition spd="slow" advTm="75627">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Lockheed Martin/Boeing F-22 Raptor – Wikipedie">
            <a:extLst>
              <a:ext uri="{FF2B5EF4-FFF2-40B4-BE49-F238E27FC236}">
                <a16:creationId xmlns:a16="http://schemas.microsoft.com/office/drawing/2014/main" id="{361155FA-62FC-FD22-F161-A9BA581FC10C}"/>
              </a:ext>
            </a:extLst>
          </p:cNvPr>
          <p:cNvPicPr>
            <a:picLocks noChangeAspect="1"/>
          </p:cNvPicPr>
          <p:nvPr/>
        </p:nvPicPr>
        <p:blipFill>
          <a:blip r:embed="rId4">
            <a:alphaModFix amt="35000"/>
            <a:extLst>
              <a:ext uri="{28A0092B-C50C-407E-A947-70E740481C1C}">
                <a14:useLocalDpi xmlns:a14="http://schemas.microsoft.com/office/drawing/2010/main" val="0"/>
              </a:ext>
            </a:extLst>
          </a:blip>
          <a:srcRect t="8238" b="20334"/>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F12EDB00-5F06-A0F0-86F0-51F6284E0737}"/>
              </a:ext>
            </a:extLst>
          </p:cNvPr>
          <p:cNvSpPr>
            <a:spLocks noGrp="1"/>
          </p:cNvSpPr>
          <p:nvPr>
            <p:ph type="title"/>
          </p:nvPr>
        </p:nvSpPr>
        <p:spPr>
          <a:xfrm>
            <a:off x="838200" y="365125"/>
            <a:ext cx="10515600" cy="1325563"/>
          </a:xfrm>
        </p:spPr>
        <p:txBody>
          <a:bodyPr>
            <a:normAutofit/>
          </a:bodyPr>
          <a:lstStyle/>
          <a:p>
            <a:r>
              <a:rPr lang="en-US">
                <a:solidFill>
                  <a:srgbClr val="FFFFFF"/>
                </a:solidFill>
              </a:rPr>
              <a:t>The F-22</a:t>
            </a:r>
          </a:p>
        </p:txBody>
      </p:sp>
      <p:sp>
        <p:nvSpPr>
          <p:cNvPr id="3" name="Content Placeholder 2">
            <a:extLst>
              <a:ext uri="{FF2B5EF4-FFF2-40B4-BE49-F238E27FC236}">
                <a16:creationId xmlns:a16="http://schemas.microsoft.com/office/drawing/2014/main" id="{37E55ED0-6427-216A-3DA9-E3417F29D3C3}"/>
              </a:ext>
            </a:extLst>
          </p:cNvPr>
          <p:cNvSpPr>
            <a:spLocks noGrp="1"/>
          </p:cNvSpPr>
          <p:nvPr>
            <p:ph idx="1"/>
          </p:nvPr>
        </p:nvSpPr>
        <p:spPr>
          <a:xfrm>
            <a:off x="838200" y="1825625"/>
            <a:ext cx="10515600" cy="4351338"/>
          </a:xfrm>
        </p:spPr>
        <p:txBody>
          <a:bodyPr>
            <a:normAutofit/>
          </a:bodyPr>
          <a:lstStyle/>
          <a:p>
            <a:r>
              <a:rPr lang="en-US" sz="2600">
                <a:solidFill>
                  <a:srgbClr val="FFFFFF"/>
                </a:solidFill>
              </a:rPr>
              <a:t>The F-22 is arguably the most successful employment of thrust vectoring, making it super-maneuverable at both high and low speeds.</a:t>
            </a:r>
          </a:p>
          <a:p>
            <a:r>
              <a:rPr lang="en-US" sz="2600">
                <a:solidFill>
                  <a:srgbClr val="FFFFFF"/>
                </a:solidFill>
              </a:rPr>
              <a:t>It utilizes the raw power of two Pratt and Whitney F-119 engines, generating a combined 72000lbf of thrust in full afterburner and 52000lbf at military power, meaning its thrust to weight ratio is well over 1:1, allowing for it to super cruise (fly at supersonic speeds with no afterburner) at around mach 1.5.</a:t>
            </a:r>
          </a:p>
          <a:p>
            <a:r>
              <a:rPr lang="en-US" sz="2600">
                <a:solidFill>
                  <a:srgbClr val="FFFFFF"/>
                </a:solidFill>
              </a:rPr>
              <a:t>This vast power combined with its thrust vectoring capabilities are just some of the reasons why it is considered the most lethal aircraft ever built. </a:t>
            </a:r>
            <a:endParaRPr lang="en-GB" sz="2600">
              <a:solidFill>
                <a:srgbClr val="FFFFFF"/>
              </a:solidFill>
            </a:endParaRPr>
          </a:p>
          <a:p>
            <a:endParaRPr lang="en-US" sz="2600">
              <a:solidFill>
                <a:srgbClr val="FFFFFF"/>
              </a:solidFill>
            </a:endParaRPr>
          </a:p>
        </p:txBody>
      </p:sp>
      <p:pic>
        <p:nvPicPr>
          <p:cNvPr id="6" name="Audio 5">
            <a:extLst>
              <a:ext uri="{FF2B5EF4-FFF2-40B4-BE49-F238E27FC236}">
                <a16:creationId xmlns:a16="http://schemas.microsoft.com/office/drawing/2014/main" id="{424296D9-003D-8DDA-A0C0-337AABE94C6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7413312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4400" advTm="78587">
        <p14:honeycomb/>
      </p:transition>
    </mc:Choice>
    <mc:Fallback>
      <p:transition spd="slow" advTm="78587">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7A62F1-EA40-7CFA-0C7E-A64D2755F8FA}"/>
              </a:ext>
            </a:extLst>
          </p:cNvPr>
          <p:cNvSpPr>
            <a:spLocks noGrp="1"/>
          </p:cNvSpPr>
          <p:nvPr>
            <p:ph type="title"/>
          </p:nvPr>
        </p:nvSpPr>
        <p:spPr>
          <a:xfrm>
            <a:off x="572493" y="238539"/>
            <a:ext cx="11018520" cy="1434415"/>
          </a:xfrm>
        </p:spPr>
        <p:txBody>
          <a:bodyPr anchor="b">
            <a:normAutofit/>
          </a:bodyPr>
          <a:lstStyle/>
          <a:p>
            <a:r>
              <a:rPr lang="en-US" sz="4600"/>
              <a:t>Distributed electric propulsion</a:t>
            </a:r>
            <a:br>
              <a:rPr lang="en-US" sz="4600"/>
            </a:br>
            <a:endParaRPr lang="en-US" sz="4600"/>
          </a:p>
        </p:txBody>
      </p:sp>
      <p:sp>
        <p:nvSpPr>
          <p:cNvPr id="2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10">
            <a:extLst>
              <a:ext uri="{FF2B5EF4-FFF2-40B4-BE49-F238E27FC236}">
                <a16:creationId xmlns:a16="http://schemas.microsoft.com/office/drawing/2014/main" id="{9C0F4063-4933-71F3-CC54-5E4F417F092B}"/>
              </a:ext>
            </a:extLst>
          </p:cNvPr>
          <p:cNvSpPr>
            <a:spLocks noGrp="1"/>
          </p:cNvSpPr>
          <p:nvPr>
            <p:ph idx="1"/>
          </p:nvPr>
        </p:nvSpPr>
        <p:spPr>
          <a:xfrm>
            <a:off x="572493" y="2071316"/>
            <a:ext cx="6713552" cy="4119172"/>
          </a:xfrm>
        </p:spPr>
        <p:txBody>
          <a:bodyPr anchor="t">
            <a:normAutofit/>
          </a:bodyPr>
          <a:lstStyle/>
          <a:p>
            <a:r>
              <a:rPr lang="en-US" sz="2200" dirty="0"/>
              <a:t>Distributed electric propulsion (DEP) is a method of powering aircraft with multiple smaller electrically driven propellers are positioned around an airframe instead of one or two conventional engines. DEP allows for: greater lift at low speeds, smaller wings (which reduces drag) and thrust vectoring through the change in RPM of individual propellers. </a:t>
            </a:r>
          </a:p>
          <a:p>
            <a:r>
              <a:rPr lang="en-US" sz="2200" dirty="0"/>
              <a:t>They are widely considered to be the future of propulsion in certain applications, as they can be paired with hydrogen fuel cells to make completely carbon-free aircraft, as well as being significantly quieter.</a:t>
            </a:r>
          </a:p>
          <a:p>
            <a:endParaRPr lang="en-US" sz="2200" dirty="0"/>
          </a:p>
        </p:txBody>
      </p:sp>
      <p:pic>
        <p:nvPicPr>
          <p:cNvPr id="7" name="Content Placeholder 6" descr="Royalty free dji photos | Pikist">
            <a:extLst>
              <a:ext uri="{FF2B5EF4-FFF2-40B4-BE49-F238E27FC236}">
                <a16:creationId xmlns:a16="http://schemas.microsoft.com/office/drawing/2014/main" id="{AFA819C2-7398-0D81-CA47-17A4EFE785BC}"/>
              </a:ext>
            </a:extLst>
          </p:cNvPr>
          <p:cNvPicPr>
            <a:picLocks noChangeAspect="1"/>
          </p:cNvPicPr>
          <p:nvPr/>
        </p:nvPicPr>
        <p:blipFill>
          <a:blip r:embed="rId4">
            <a:extLst>
              <a:ext uri="{28A0092B-C50C-407E-A947-70E740481C1C}">
                <a14:useLocalDpi xmlns:a14="http://schemas.microsoft.com/office/drawing/2010/main" val="0"/>
              </a:ext>
            </a:extLst>
          </a:blip>
          <a:srcRect l="19960" r="16062" b="-3"/>
          <a:stretch>
            <a:fillRect/>
          </a:stretch>
        </p:blipFill>
        <p:spPr>
          <a:xfrm>
            <a:off x="7675658" y="2093976"/>
            <a:ext cx="3941064" cy="4096512"/>
          </a:xfrm>
          <a:prstGeom prst="rect">
            <a:avLst/>
          </a:prstGeom>
        </p:spPr>
      </p:pic>
      <p:pic>
        <p:nvPicPr>
          <p:cNvPr id="4" name="Audio 3">
            <a:extLst>
              <a:ext uri="{FF2B5EF4-FFF2-40B4-BE49-F238E27FC236}">
                <a16:creationId xmlns:a16="http://schemas.microsoft.com/office/drawing/2014/main" id="{9E5DF460-3F5B-71DE-BBA9-62F2887165F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09679936"/>
      </p:ext>
    </p:extLst>
  </p:cSld>
  <p:clrMapOvr>
    <a:masterClrMapping/>
  </p:clrMapOvr>
  <p:transition spd="slow" advTm="43699">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414</Words>
  <Application>Microsoft Macintosh PowerPoint</Application>
  <PresentationFormat>Widescreen</PresentationFormat>
  <Paragraphs>16</Paragraphs>
  <Slides>5</Slides>
  <Notes>0</Notes>
  <HiddenSlides>0</HiddenSlides>
  <MMClips>5</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Thrust Vectoring: What is it and how does it work?</vt:lpstr>
      <vt:lpstr>What is Thrust Vectoring?</vt:lpstr>
      <vt:lpstr>The Harrier Jump-Jet</vt:lpstr>
      <vt:lpstr>The F-22</vt:lpstr>
      <vt:lpstr>Distributed electric propulsion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Thrust Vectoring: What is it and how does it work?</dc:title>
  <dc:creator>Jacobs, Arthur R (UG - Sch of Engineering)</dc:creator>
  <cp:lastModifiedBy>Jacobs, Arthur R (UG - Sch of Engineering)</cp:lastModifiedBy>
  <cp:revision>3</cp:revision>
  <dcterms:created xsi:type="dcterms:W3CDTF">2025-11-28T13:00:52Z</dcterms:created>
  <dcterms:modified xsi:type="dcterms:W3CDTF">2025-12-05T11:34:22Z</dcterms:modified>
</cp:coreProperties>
</file>